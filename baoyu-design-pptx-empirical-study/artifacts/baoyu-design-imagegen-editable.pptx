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speaker notes: design-system prompt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speaker notes: token capture and editability inspection.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speaker notes: local image generation insertion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p:nvPr/>
        </p:nvSpPr>
        <p:spPr>
          <a:xfrm>
            <a:off x="1123950" y="876300"/>
            <a:ext cx="16521303"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0891B2"/>
                </a:solidFill>
                <a:latin typeface="Arial" pitchFamily="34" charset="0"/>
                <a:ea typeface="Arial" pitchFamily="34" charset="-122"/>
                <a:cs typeface="Arial" pitchFamily="34" charset="-120"/>
              </a:rPr>
              <a:t>EXPERIMENT 1 · DESIGN SYSTEM GENERATION</a:t>
            </a:r>
            <a:endParaRPr lang="en-US" sz="1800" dirty="0"/>
          </a:p>
        </p:txBody>
      </p:sp>
      <p:sp>
        <p:nvSpPr>
          <p:cNvPr id="4" name="Text 1"/>
          <p:cNvSpPr/>
          <p:nvPr/>
        </p:nvSpPr>
        <p:spPr>
          <a:xfrm>
            <a:off x="1123950" y="1390650"/>
            <a:ext cx="16521303" cy="1709142"/>
          </a:xfrm>
          <a:prstGeom prst="rect">
            <a:avLst/>
          </a:prstGeom>
          <a:noFill/>
          <a:ln/>
        </p:spPr>
        <p:txBody>
          <a:bodyPr wrap="square" lIns="25400" tIns="25400" rIns="25400" bIns="25400" rtlCol="0" anchor="t">
            <a:normAutofit/>
          </a:bodyPr>
          <a:lstStyle/>
          <a:p>
            <a:pPr algn="l" indent="0" marL="0">
              <a:lnSpc>
                <a:spcPct val="102000"/>
              </a:lnSpc>
              <a:buNone/>
            </a:pPr>
            <a:r>
              <a:rPr lang="en-US" sz="6450" b="1" dirty="0">
                <a:solidFill>
                  <a:srgbClr val="FFFFFF"/>
                </a:solidFill>
                <a:latin typeface="Arial" pitchFamily="34" charset="0"/>
                <a:ea typeface="Arial" pitchFamily="34" charset="-122"/>
                <a:cs typeface="Arial" pitchFamily="34" charset="-120"/>
              </a:rPr>
              <a:t>Corporate Tech Branding</a:t>
            </a:r>
            <a:endParaRPr lang="en-US" sz="6450" dirty="0"/>
          </a:p>
          <a:p>
            <a:pPr algn="l" indent="0" marL="0">
              <a:lnSpc>
                <a:spcPct val="102000"/>
              </a:lnSpc>
              <a:buNone/>
            </a:pPr>
            <a:r>
              <a:rPr lang="en-US" sz="6450" b="1" dirty="0">
                <a:solidFill>
                  <a:srgbClr val="FFFFFF"/>
                </a:solidFill>
                <a:latin typeface="Arial" pitchFamily="34" charset="0"/>
                <a:ea typeface="Arial" pitchFamily="34" charset="-122"/>
                <a:cs typeface="Arial" pitchFamily="34" charset="-120"/>
              </a:rPr>
              <a:t>Ocean Blue &amp; Minimalist</a:t>
            </a:r>
            <a:endParaRPr lang="en-US" sz="6450" dirty="0"/>
          </a:p>
        </p:txBody>
      </p:sp>
      <p:sp>
        <p:nvSpPr>
          <p:cNvPr id="5" name="Text 2"/>
          <p:cNvSpPr/>
          <p:nvPr/>
        </p:nvSpPr>
        <p:spPr>
          <a:xfrm>
            <a:off x="1123950" y="3385542"/>
            <a:ext cx="8633460" cy="1349425"/>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FFFFFF">
                    <a:alpha val="90000"/>
                  </a:srgbClr>
                </a:solidFill>
                <a:latin typeface="Arial" pitchFamily="34" charset="0"/>
                <a:ea typeface="Arial" pitchFamily="34" charset="-122"/>
                <a:cs typeface="Arial" pitchFamily="34" charset="-120"/>
              </a:rPr>
              <a:t>Tokenized palette, restrained typography, native layout primitives, and a reusable visual language for security-focused decks.</a:t>
            </a:r>
            <a:endParaRPr lang="en-US" sz="2550" dirty="0"/>
          </a:p>
        </p:txBody>
      </p:sp>
      <p:sp>
        <p:nvSpPr>
          <p:cNvPr id="6" name="Shape 3"/>
          <p:cNvSpPr/>
          <p:nvPr/>
        </p:nvSpPr>
        <p:spPr>
          <a:xfrm>
            <a:off x="11753850" y="5657850"/>
            <a:ext cx="5334000" cy="3429000"/>
          </a:xfrm>
          <a:prstGeom prst="roundRect">
            <a:avLst>
              <a:gd name="adj" fmla="val 7778"/>
            </a:avLst>
          </a:prstGeom>
          <a:solidFill>
            <a:srgbClr val="FFFFFF">
              <a:alpha val="16000"/>
            </a:srgbClr>
          </a:solidFill>
          <a:ln w="19050">
            <a:solidFill>
              <a:srgbClr val="FFFFFF">
                <a:alpha val="45000"/>
              </a:srgbClr>
            </a:solidFill>
            <a:prstDash val="solid"/>
          </a:ln>
          <a:effectLst>
            <a:outerShdw sx="100000" sy="100000" kx="0" ky="0" algn="bl" rotWithShape="0" blurRad="762000" dist="304800" dir="5400000">
              <a:srgbClr val="020617">
                <a:alpha val="28000"/>
              </a:srgbClr>
            </a:outerShdw>
          </a:effectLst>
        </p:spPr>
      </p:sp>
      <p:sp>
        <p:nvSpPr>
          <p:cNvPr id="7" name="Text 4"/>
          <p:cNvSpPr/>
          <p:nvPr/>
        </p:nvSpPr>
        <p:spPr>
          <a:xfrm>
            <a:off x="12172950" y="6076950"/>
            <a:ext cx="4630674" cy="614065"/>
          </a:xfrm>
          <a:prstGeom prst="rect">
            <a:avLst/>
          </a:prstGeom>
          <a:noFill/>
          <a:ln/>
        </p:spPr>
        <p:txBody>
          <a:bodyPr wrap="square" lIns="25400" tIns="25400" rIns="25400" bIns="25400" rtlCol="0" anchor="t">
            <a:normAutofit/>
          </a:bodyPr>
          <a:lstStyle/>
          <a:p>
            <a:pPr algn="l" indent="0" marL="0">
              <a:lnSpc>
                <a:spcPct val="108000"/>
              </a:lnSpc>
              <a:buNone/>
            </a:pPr>
            <a:r>
              <a:rPr lang="en-US" sz="4200" b="1" dirty="0">
                <a:solidFill>
                  <a:srgbClr val="FFFFFF"/>
                </a:solidFill>
                <a:latin typeface="Arial" pitchFamily="34" charset="0"/>
                <a:ea typeface="Arial" pitchFamily="34" charset="-122"/>
                <a:cs typeface="Arial" pitchFamily="34" charset="-120"/>
              </a:rPr>
              <a:t>Design System</a:t>
            </a:r>
            <a:endParaRPr lang="en-US" sz="4200" dirty="0"/>
          </a:p>
        </p:txBody>
      </p:sp>
      <p:sp>
        <p:nvSpPr>
          <p:cNvPr id="8" name="Text 5"/>
          <p:cNvSpPr/>
          <p:nvPr/>
        </p:nvSpPr>
        <p:spPr>
          <a:xfrm>
            <a:off x="12172950" y="6976765"/>
            <a:ext cx="8633460" cy="912316"/>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FFFFFF">
                    <a:alpha val="90000"/>
                  </a:srgbClr>
                </a:solidFill>
                <a:latin typeface="Arial" pitchFamily="34" charset="0"/>
                <a:ea typeface="Arial" pitchFamily="34" charset="-122"/>
                <a:cs typeface="Arial" pitchFamily="34" charset="-120"/>
              </a:rPr>
              <a:t>Colors, type scale, component rhythm, spacing, and presentation rules captured as deck-ready atoms.</a:t>
            </a:r>
            <a:endParaRPr lang="en-US" sz="2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1123950" y="876300"/>
            <a:ext cx="16521303"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0891B2"/>
                </a:solidFill>
                <a:latin typeface="Arial" pitchFamily="34" charset="0"/>
                <a:ea typeface="Arial" pitchFamily="34" charset="-122"/>
                <a:cs typeface="Arial" pitchFamily="34" charset="-120"/>
              </a:rPr>
              <a:t>EXPERIMENT 2 · NATIVE PPTX OBJECTS</a:t>
            </a:r>
            <a:endParaRPr lang="en-US" sz="1800" dirty="0"/>
          </a:p>
        </p:txBody>
      </p:sp>
      <p:sp>
        <p:nvSpPr>
          <p:cNvPr id="3" name="Text 1"/>
          <p:cNvSpPr/>
          <p:nvPr/>
        </p:nvSpPr>
        <p:spPr>
          <a:xfrm>
            <a:off x="1123950" y="1390650"/>
            <a:ext cx="16521303" cy="614065"/>
          </a:xfrm>
          <a:prstGeom prst="rect">
            <a:avLst/>
          </a:prstGeom>
          <a:noFill/>
          <a:ln/>
        </p:spPr>
        <p:txBody>
          <a:bodyPr wrap="square" lIns="25400" tIns="25400" rIns="25400" bIns="25400" rtlCol="0" anchor="t">
            <a:normAutofit/>
          </a:bodyPr>
          <a:lstStyle/>
          <a:p>
            <a:pPr algn="l" indent="0" marL="0">
              <a:lnSpc>
                <a:spcPct val="108000"/>
              </a:lnSpc>
              <a:buNone/>
            </a:pPr>
            <a:r>
              <a:rPr lang="en-US" sz="4200" b="1" dirty="0">
                <a:solidFill>
                  <a:srgbClr val="0F172A"/>
                </a:solidFill>
                <a:latin typeface="Arial" pitchFamily="34" charset="0"/>
                <a:ea typeface="Arial" pitchFamily="34" charset="-122"/>
                <a:cs typeface="Arial" pitchFamily="34" charset="-120"/>
              </a:rPr>
              <a:t>Design Tokens Captured as Editable Text and Shapes</a:t>
            </a:r>
            <a:endParaRPr lang="en-US" sz="4200" dirty="0"/>
          </a:p>
        </p:txBody>
      </p:sp>
      <p:sp>
        <p:nvSpPr>
          <p:cNvPr id="4" name="Shape 2"/>
          <p:cNvSpPr/>
          <p:nvPr/>
        </p:nvSpPr>
        <p:spPr>
          <a:xfrm>
            <a:off x="1123950" y="2461915"/>
            <a:ext cx="3810000" cy="2066925"/>
          </a:xfrm>
          <a:prstGeom prst="roundRect">
            <a:avLst>
              <a:gd name="adj" fmla="val 8295"/>
            </a:avLst>
          </a:prstGeom>
          <a:solidFill>
            <a:srgbClr val="FFFFFF"/>
          </a:solidFill>
          <a:ln w="19050">
            <a:solidFill>
              <a:srgbClr val="E2E8F0"/>
            </a:solidFill>
            <a:prstDash val="solid"/>
          </a:ln>
        </p:spPr>
      </p:sp>
      <p:sp>
        <p:nvSpPr>
          <p:cNvPr id="5" name="Shape 3"/>
          <p:cNvSpPr/>
          <p:nvPr/>
        </p:nvSpPr>
        <p:spPr>
          <a:xfrm>
            <a:off x="1390650" y="2728615"/>
            <a:ext cx="3276600" cy="685800"/>
          </a:xfrm>
          <a:prstGeom prst="roundRect">
            <a:avLst>
              <a:gd name="adj" fmla="val 16667"/>
            </a:avLst>
          </a:prstGeom>
          <a:solidFill>
            <a:srgbClr val="075985"/>
          </a:solidFill>
          <a:ln/>
        </p:spPr>
      </p:sp>
      <p:sp>
        <p:nvSpPr>
          <p:cNvPr id="6" name="Text 4"/>
          <p:cNvSpPr/>
          <p:nvPr/>
        </p:nvSpPr>
        <p:spPr>
          <a:xfrm>
            <a:off x="1390650" y="3623965"/>
            <a:ext cx="3374898"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0F172A"/>
                </a:solidFill>
                <a:latin typeface="Arial" pitchFamily="34" charset="0"/>
                <a:ea typeface="Arial" pitchFamily="34" charset="-122"/>
                <a:cs typeface="Arial" pitchFamily="34" charset="-120"/>
              </a:rPr>
              <a:t>Ocean 700</a:t>
            </a:r>
            <a:endParaRPr lang="en-US" sz="2100" dirty="0"/>
          </a:p>
        </p:txBody>
      </p:sp>
      <p:sp>
        <p:nvSpPr>
          <p:cNvPr id="7" name="Text 5"/>
          <p:cNvSpPr/>
          <p:nvPr/>
        </p:nvSpPr>
        <p:spPr>
          <a:xfrm>
            <a:off x="1390650" y="4004965"/>
            <a:ext cx="1854101" cy="285750"/>
          </a:xfrm>
          <a:prstGeom prst="rect">
            <a:avLst/>
          </a:prstGeom>
          <a:noFill/>
          <a:ln/>
        </p:spPr>
        <p:txBody>
          <a:bodyPr wrap="square" lIns="25400" tIns="25400" rIns="25400" bIns="25400" rtlCol="0" anchor="t">
            <a:normAutofit/>
          </a:bodyPr>
          <a:lstStyle/>
          <a:p>
            <a:pPr algn="l" indent="0" marL="0">
              <a:buNone/>
            </a:pPr>
            <a:r>
              <a:rPr lang="en-US" sz="1725" dirty="0">
                <a:solidFill>
                  <a:srgbClr val="64748B"/>
                </a:solidFill>
                <a:latin typeface="Arial" pitchFamily="34" charset="0"/>
                <a:ea typeface="Arial" pitchFamily="34" charset="-122"/>
                <a:cs typeface="Arial" pitchFamily="34" charset="-120"/>
              </a:rPr>
              <a:t>#075985 · primary</a:t>
            </a:r>
            <a:endParaRPr lang="en-US" sz="1725" dirty="0"/>
          </a:p>
        </p:txBody>
      </p:sp>
      <p:sp>
        <p:nvSpPr>
          <p:cNvPr id="8" name="Shape 6"/>
          <p:cNvSpPr/>
          <p:nvPr/>
        </p:nvSpPr>
        <p:spPr>
          <a:xfrm>
            <a:off x="5200650" y="2461915"/>
            <a:ext cx="3810000" cy="2066925"/>
          </a:xfrm>
          <a:prstGeom prst="roundRect">
            <a:avLst>
              <a:gd name="adj" fmla="val 8295"/>
            </a:avLst>
          </a:prstGeom>
          <a:solidFill>
            <a:srgbClr val="FFFFFF"/>
          </a:solidFill>
          <a:ln w="19050">
            <a:solidFill>
              <a:srgbClr val="E2E8F0"/>
            </a:solidFill>
            <a:prstDash val="solid"/>
          </a:ln>
        </p:spPr>
      </p:sp>
      <p:sp>
        <p:nvSpPr>
          <p:cNvPr id="9" name="Shape 7"/>
          <p:cNvSpPr/>
          <p:nvPr/>
        </p:nvSpPr>
        <p:spPr>
          <a:xfrm>
            <a:off x="5467350" y="2728615"/>
            <a:ext cx="3276600" cy="685800"/>
          </a:xfrm>
          <a:prstGeom prst="roundRect">
            <a:avLst>
              <a:gd name="adj" fmla="val 16667"/>
            </a:avLst>
          </a:prstGeom>
          <a:solidFill>
            <a:srgbClr val="0891B2"/>
          </a:solidFill>
          <a:ln/>
        </p:spPr>
      </p:sp>
      <p:sp>
        <p:nvSpPr>
          <p:cNvPr id="10" name="Text 8"/>
          <p:cNvSpPr/>
          <p:nvPr/>
        </p:nvSpPr>
        <p:spPr>
          <a:xfrm>
            <a:off x="5467350" y="3623965"/>
            <a:ext cx="3374898"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0F172A"/>
                </a:solidFill>
                <a:latin typeface="Arial" pitchFamily="34" charset="0"/>
                <a:ea typeface="Arial" pitchFamily="34" charset="-122"/>
                <a:cs typeface="Arial" pitchFamily="34" charset="-120"/>
              </a:rPr>
              <a:t>Cyan 600</a:t>
            </a:r>
            <a:endParaRPr lang="en-US" sz="2100" dirty="0"/>
          </a:p>
        </p:txBody>
      </p:sp>
      <p:sp>
        <p:nvSpPr>
          <p:cNvPr id="11" name="Text 9"/>
          <p:cNvSpPr/>
          <p:nvPr/>
        </p:nvSpPr>
        <p:spPr>
          <a:xfrm>
            <a:off x="5467350" y="4004965"/>
            <a:ext cx="1793528" cy="285750"/>
          </a:xfrm>
          <a:prstGeom prst="rect">
            <a:avLst/>
          </a:prstGeom>
          <a:noFill/>
          <a:ln/>
        </p:spPr>
        <p:txBody>
          <a:bodyPr wrap="square" lIns="25400" tIns="25400" rIns="25400" bIns="25400" rtlCol="0" anchor="t">
            <a:normAutofit/>
          </a:bodyPr>
          <a:lstStyle/>
          <a:p>
            <a:pPr algn="l" indent="0" marL="0">
              <a:buNone/>
            </a:pPr>
            <a:r>
              <a:rPr lang="en-US" sz="1725" dirty="0">
                <a:solidFill>
                  <a:srgbClr val="64748B"/>
                </a:solidFill>
                <a:latin typeface="Arial" pitchFamily="34" charset="0"/>
                <a:ea typeface="Arial" pitchFamily="34" charset="-122"/>
                <a:cs typeface="Arial" pitchFamily="34" charset="-120"/>
              </a:rPr>
              <a:t>#0891B2 · accent</a:t>
            </a:r>
            <a:endParaRPr lang="en-US" sz="1725" dirty="0"/>
          </a:p>
        </p:txBody>
      </p:sp>
      <p:sp>
        <p:nvSpPr>
          <p:cNvPr id="12" name="Shape 10"/>
          <p:cNvSpPr/>
          <p:nvPr/>
        </p:nvSpPr>
        <p:spPr>
          <a:xfrm>
            <a:off x="9277350" y="2461915"/>
            <a:ext cx="3810000" cy="2066925"/>
          </a:xfrm>
          <a:prstGeom prst="roundRect">
            <a:avLst>
              <a:gd name="adj" fmla="val 8295"/>
            </a:avLst>
          </a:prstGeom>
          <a:solidFill>
            <a:srgbClr val="FFFFFF"/>
          </a:solidFill>
          <a:ln w="19050">
            <a:solidFill>
              <a:srgbClr val="E2E8F0"/>
            </a:solidFill>
            <a:prstDash val="solid"/>
          </a:ln>
        </p:spPr>
      </p:sp>
      <p:sp>
        <p:nvSpPr>
          <p:cNvPr id="13" name="Shape 11"/>
          <p:cNvSpPr/>
          <p:nvPr/>
        </p:nvSpPr>
        <p:spPr>
          <a:xfrm>
            <a:off x="9544050" y="2728615"/>
            <a:ext cx="3276600" cy="685800"/>
          </a:xfrm>
          <a:prstGeom prst="roundRect">
            <a:avLst>
              <a:gd name="adj" fmla="val 16667"/>
            </a:avLst>
          </a:prstGeom>
          <a:solidFill>
            <a:srgbClr val="14B8A6"/>
          </a:solidFill>
          <a:ln/>
        </p:spPr>
      </p:sp>
      <p:sp>
        <p:nvSpPr>
          <p:cNvPr id="14" name="Text 12"/>
          <p:cNvSpPr/>
          <p:nvPr/>
        </p:nvSpPr>
        <p:spPr>
          <a:xfrm>
            <a:off x="9544050" y="3623965"/>
            <a:ext cx="3374898"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0F172A"/>
                </a:solidFill>
                <a:latin typeface="Arial" pitchFamily="34" charset="0"/>
                <a:ea typeface="Arial" pitchFamily="34" charset="-122"/>
                <a:cs typeface="Arial" pitchFamily="34" charset="-120"/>
              </a:rPr>
              <a:t>Mint 500</a:t>
            </a:r>
            <a:endParaRPr lang="en-US" sz="2100" dirty="0"/>
          </a:p>
        </p:txBody>
      </p:sp>
      <p:sp>
        <p:nvSpPr>
          <p:cNvPr id="15" name="Text 13"/>
          <p:cNvSpPr/>
          <p:nvPr/>
        </p:nvSpPr>
        <p:spPr>
          <a:xfrm>
            <a:off x="9544050" y="4004965"/>
            <a:ext cx="1963787" cy="285750"/>
          </a:xfrm>
          <a:prstGeom prst="rect">
            <a:avLst/>
          </a:prstGeom>
          <a:noFill/>
          <a:ln/>
        </p:spPr>
        <p:txBody>
          <a:bodyPr wrap="square" lIns="25400" tIns="25400" rIns="25400" bIns="25400" rtlCol="0" anchor="t">
            <a:normAutofit/>
          </a:bodyPr>
          <a:lstStyle/>
          <a:p>
            <a:pPr algn="l" indent="0" marL="0">
              <a:buNone/>
            </a:pPr>
            <a:r>
              <a:rPr lang="en-US" sz="1725" dirty="0">
                <a:solidFill>
                  <a:srgbClr val="64748B"/>
                </a:solidFill>
                <a:latin typeface="Arial" pitchFamily="34" charset="0"/>
                <a:ea typeface="Arial" pitchFamily="34" charset="-122"/>
                <a:cs typeface="Arial" pitchFamily="34" charset="-120"/>
              </a:rPr>
              <a:t>#14B8A6 · success</a:t>
            </a:r>
            <a:endParaRPr lang="en-US" sz="1725" dirty="0"/>
          </a:p>
        </p:txBody>
      </p:sp>
      <p:sp>
        <p:nvSpPr>
          <p:cNvPr id="16" name="Shape 14"/>
          <p:cNvSpPr/>
          <p:nvPr/>
        </p:nvSpPr>
        <p:spPr>
          <a:xfrm>
            <a:off x="13354050" y="2461915"/>
            <a:ext cx="3810000" cy="2066925"/>
          </a:xfrm>
          <a:prstGeom prst="roundRect">
            <a:avLst>
              <a:gd name="adj" fmla="val 8295"/>
            </a:avLst>
          </a:prstGeom>
          <a:solidFill>
            <a:srgbClr val="FFFFFF"/>
          </a:solidFill>
          <a:ln w="19050">
            <a:solidFill>
              <a:srgbClr val="E2E8F0"/>
            </a:solidFill>
            <a:prstDash val="solid"/>
          </a:ln>
        </p:spPr>
      </p:sp>
      <p:sp>
        <p:nvSpPr>
          <p:cNvPr id="17" name="Shape 15"/>
          <p:cNvSpPr/>
          <p:nvPr/>
        </p:nvSpPr>
        <p:spPr>
          <a:xfrm>
            <a:off x="13620750" y="2728615"/>
            <a:ext cx="3276600" cy="685800"/>
          </a:xfrm>
          <a:prstGeom prst="roundRect">
            <a:avLst>
              <a:gd name="adj" fmla="val 16667"/>
            </a:avLst>
          </a:prstGeom>
          <a:solidFill>
            <a:srgbClr val="0F172A"/>
          </a:solidFill>
          <a:ln/>
        </p:spPr>
      </p:sp>
      <p:sp>
        <p:nvSpPr>
          <p:cNvPr id="18" name="Text 16"/>
          <p:cNvSpPr/>
          <p:nvPr/>
        </p:nvSpPr>
        <p:spPr>
          <a:xfrm>
            <a:off x="13620750" y="3623965"/>
            <a:ext cx="3374898"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0F172A"/>
                </a:solidFill>
                <a:latin typeface="Arial" pitchFamily="34" charset="0"/>
                <a:ea typeface="Arial" pitchFamily="34" charset="-122"/>
                <a:cs typeface="Arial" pitchFamily="34" charset="-120"/>
              </a:rPr>
              <a:t>Slate 900</a:t>
            </a:r>
            <a:endParaRPr lang="en-US" sz="2100" dirty="0"/>
          </a:p>
        </p:txBody>
      </p:sp>
      <p:sp>
        <p:nvSpPr>
          <p:cNvPr id="19" name="Text 17"/>
          <p:cNvSpPr/>
          <p:nvPr/>
        </p:nvSpPr>
        <p:spPr>
          <a:xfrm>
            <a:off x="13620750" y="4004965"/>
            <a:ext cx="1501080" cy="285750"/>
          </a:xfrm>
          <a:prstGeom prst="rect">
            <a:avLst/>
          </a:prstGeom>
          <a:noFill/>
          <a:ln/>
        </p:spPr>
        <p:txBody>
          <a:bodyPr wrap="square" lIns="25400" tIns="25400" rIns="25400" bIns="25400" rtlCol="0" anchor="t">
            <a:normAutofit/>
          </a:bodyPr>
          <a:lstStyle/>
          <a:p>
            <a:pPr algn="l" indent="0" marL="0">
              <a:buNone/>
            </a:pPr>
            <a:r>
              <a:rPr lang="en-US" sz="1725" dirty="0">
                <a:solidFill>
                  <a:srgbClr val="64748B"/>
                </a:solidFill>
                <a:latin typeface="Arial" pitchFamily="34" charset="0"/>
                <a:ea typeface="Arial" pitchFamily="34" charset="-122"/>
                <a:cs typeface="Arial" pitchFamily="34" charset="-120"/>
              </a:rPr>
              <a:t>#0F172A · text</a:t>
            </a:r>
            <a:endParaRPr lang="en-US" sz="1725" dirty="0"/>
          </a:p>
        </p:txBody>
      </p:sp>
      <p:sp>
        <p:nvSpPr>
          <p:cNvPr id="20" name="Shape 18"/>
          <p:cNvSpPr/>
          <p:nvPr/>
        </p:nvSpPr>
        <p:spPr>
          <a:xfrm>
            <a:off x="1123950" y="5005090"/>
            <a:ext cx="5194250" cy="1419225"/>
          </a:xfrm>
          <a:prstGeom prst="roundRect">
            <a:avLst>
              <a:gd name="adj" fmla="val 13423"/>
            </a:avLst>
          </a:prstGeom>
          <a:solidFill>
            <a:srgbClr val="FFFFFF"/>
          </a:solidFill>
          <a:ln w="19050">
            <a:solidFill>
              <a:srgbClr val="E2E8F0"/>
            </a:solidFill>
            <a:prstDash val="solid"/>
          </a:ln>
        </p:spPr>
      </p:sp>
      <p:sp>
        <p:nvSpPr>
          <p:cNvPr id="21" name="Text 19"/>
          <p:cNvSpPr/>
          <p:nvPr/>
        </p:nvSpPr>
        <p:spPr>
          <a:xfrm>
            <a:off x="1409700" y="5290840"/>
            <a:ext cx="4761433" cy="561975"/>
          </a:xfrm>
          <a:prstGeom prst="rect">
            <a:avLst/>
          </a:prstGeom>
          <a:noFill/>
          <a:ln/>
        </p:spPr>
        <p:txBody>
          <a:bodyPr wrap="square" lIns="25400" tIns="25400" rIns="25400" bIns="25400" rtlCol="0" anchor="t">
            <a:normAutofit/>
          </a:bodyPr>
          <a:lstStyle/>
          <a:p>
            <a:pPr algn="l" indent="0" marL="0">
              <a:buNone/>
            </a:pPr>
            <a:r>
              <a:rPr lang="en-US" sz="3600" b="1" dirty="0">
                <a:solidFill>
                  <a:srgbClr val="075985"/>
                </a:solidFill>
                <a:latin typeface="Arial" pitchFamily="34" charset="0"/>
                <a:ea typeface="Arial" pitchFamily="34" charset="-122"/>
                <a:cs typeface="Arial" pitchFamily="34" charset="-120"/>
              </a:rPr>
              <a:t>8 px</a:t>
            </a:r>
            <a:endParaRPr lang="en-US" sz="3600" dirty="0"/>
          </a:p>
        </p:txBody>
      </p:sp>
      <p:sp>
        <p:nvSpPr>
          <p:cNvPr id="22" name="Text 20"/>
          <p:cNvSpPr/>
          <p:nvPr/>
        </p:nvSpPr>
        <p:spPr>
          <a:xfrm>
            <a:off x="1409700" y="5890915"/>
            <a:ext cx="1730425" cy="276225"/>
          </a:xfrm>
          <a:prstGeom prst="rect">
            <a:avLst/>
          </a:prstGeom>
          <a:noFill/>
          <a:ln/>
        </p:spPr>
        <p:txBody>
          <a:bodyPr wrap="square" lIns="25400" tIns="25400" rIns="25400" bIns="25400" rtlCol="0" anchor="t">
            <a:normAutofit/>
          </a:bodyPr>
          <a:lstStyle/>
          <a:p>
            <a:pPr algn="l" indent="0" marL="0">
              <a:buNone/>
            </a:pPr>
            <a:r>
              <a:rPr lang="en-US" sz="1650" dirty="0">
                <a:solidFill>
                  <a:srgbClr val="64748B"/>
                </a:solidFill>
                <a:latin typeface="Arial" pitchFamily="34" charset="0"/>
                <a:ea typeface="Arial" pitchFamily="34" charset="-122"/>
                <a:cs typeface="Arial" pitchFamily="34" charset="-120"/>
              </a:rPr>
              <a:t>Base spacing unit</a:t>
            </a:r>
            <a:endParaRPr lang="en-US" sz="1650" dirty="0"/>
          </a:p>
        </p:txBody>
      </p:sp>
      <p:sp>
        <p:nvSpPr>
          <p:cNvPr id="23" name="Shape 21"/>
          <p:cNvSpPr/>
          <p:nvPr/>
        </p:nvSpPr>
        <p:spPr>
          <a:xfrm>
            <a:off x="6546800" y="5005090"/>
            <a:ext cx="5194250" cy="1419225"/>
          </a:xfrm>
          <a:prstGeom prst="roundRect">
            <a:avLst>
              <a:gd name="adj" fmla="val 13423"/>
            </a:avLst>
          </a:prstGeom>
          <a:solidFill>
            <a:srgbClr val="FFFFFF"/>
          </a:solidFill>
          <a:ln w="19050">
            <a:solidFill>
              <a:srgbClr val="E2E8F0"/>
            </a:solidFill>
            <a:prstDash val="solid"/>
          </a:ln>
        </p:spPr>
      </p:sp>
      <p:sp>
        <p:nvSpPr>
          <p:cNvPr id="24" name="Text 22"/>
          <p:cNvSpPr/>
          <p:nvPr/>
        </p:nvSpPr>
        <p:spPr>
          <a:xfrm>
            <a:off x="6832550" y="5290840"/>
            <a:ext cx="4761433" cy="561975"/>
          </a:xfrm>
          <a:prstGeom prst="rect">
            <a:avLst/>
          </a:prstGeom>
          <a:noFill/>
          <a:ln/>
        </p:spPr>
        <p:txBody>
          <a:bodyPr wrap="square" lIns="25400" tIns="25400" rIns="25400" bIns="25400" rtlCol="0" anchor="t">
            <a:normAutofit/>
          </a:bodyPr>
          <a:lstStyle/>
          <a:p>
            <a:pPr algn="l" indent="0" marL="0">
              <a:buNone/>
            </a:pPr>
            <a:r>
              <a:rPr lang="en-US" sz="3600" b="1" dirty="0">
                <a:solidFill>
                  <a:srgbClr val="075985"/>
                </a:solidFill>
                <a:latin typeface="Arial" pitchFamily="34" charset="0"/>
                <a:ea typeface="Arial" pitchFamily="34" charset="-122"/>
                <a:cs typeface="Arial" pitchFamily="34" charset="-120"/>
              </a:rPr>
              <a:t>1.35</a:t>
            </a:r>
            <a:endParaRPr lang="en-US" sz="3600" dirty="0"/>
          </a:p>
        </p:txBody>
      </p:sp>
      <p:sp>
        <p:nvSpPr>
          <p:cNvPr id="25" name="Text 23"/>
          <p:cNvSpPr/>
          <p:nvPr/>
        </p:nvSpPr>
        <p:spPr>
          <a:xfrm>
            <a:off x="6832550" y="5890915"/>
            <a:ext cx="1579066" cy="276225"/>
          </a:xfrm>
          <a:prstGeom prst="rect">
            <a:avLst/>
          </a:prstGeom>
          <a:noFill/>
          <a:ln/>
        </p:spPr>
        <p:txBody>
          <a:bodyPr wrap="square" lIns="25400" tIns="25400" rIns="25400" bIns="25400" rtlCol="0" anchor="t">
            <a:normAutofit/>
          </a:bodyPr>
          <a:lstStyle/>
          <a:p>
            <a:pPr algn="l" indent="0" marL="0">
              <a:buNone/>
            </a:pPr>
            <a:r>
              <a:rPr lang="en-US" sz="1650" dirty="0">
                <a:solidFill>
                  <a:srgbClr val="64748B"/>
                </a:solidFill>
                <a:latin typeface="Arial" pitchFamily="34" charset="0"/>
                <a:ea typeface="Arial" pitchFamily="34" charset="-122"/>
                <a:cs typeface="Arial" pitchFamily="34" charset="-120"/>
              </a:rPr>
              <a:t>Body line-height</a:t>
            </a:r>
            <a:endParaRPr lang="en-US" sz="1650" dirty="0"/>
          </a:p>
        </p:txBody>
      </p:sp>
      <p:sp>
        <p:nvSpPr>
          <p:cNvPr id="26" name="Shape 24"/>
          <p:cNvSpPr/>
          <p:nvPr/>
        </p:nvSpPr>
        <p:spPr>
          <a:xfrm>
            <a:off x="11969651" y="5005090"/>
            <a:ext cx="5194250" cy="1419225"/>
          </a:xfrm>
          <a:prstGeom prst="roundRect">
            <a:avLst>
              <a:gd name="adj" fmla="val 13423"/>
            </a:avLst>
          </a:prstGeom>
          <a:solidFill>
            <a:srgbClr val="FFFFFF"/>
          </a:solidFill>
          <a:ln w="19050">
            <a:solidFill>
              <a:srgbClr val="E2E8F0"/>
            </a:solidFill>
            <a:prstDash val="solid"/>
          </a:ln>
        </p:spPr>
      </p:sp>
      <p:sp>
        <p:nvSpPr>
          <p:cNvPr id="27" name="Text 25"/>
          <p:cNvSpPr/>
          <p:nvPr/>
        </p:nvSpPr>
        <p:spPr>
          <a:xfrm>
            <a:off x="12255401" y="5290840"/>
            <a:ext cx="4761433" cy="561975"/>
          </a:xfrm>
          <a:prstGeom prst="rect">
            <a:avLst/>
          </a:prstGeom>
          <a:noFill/>
          <a:ln/>
        </p:spPr>
        <p:txBody>
          <a:bodyPr wrap="square" lIns="25400" tIns="25400" rIns="25400" bIns="25400" rtlCol="0" anchor="t">
            <a:normAutofit/>
          </a:bodyPr>
          <a:lstStyle/>
          <a:p>
            <a:pPr algn="l" indent="0" marL="0">
              <a:buNone/>
            </a:pPr>
            <a:r>
              <a:rPr lang="en-US" sz="3600" b="1" dirty="0">
                <a:solidFill>
                  <a:srgbClr val="075985"/>
                </a:solidFill>
                <a:latin typeface="Arial" pitchFamily="34" charset="0"/>
                <a:ea typeface="Arial" pitchFamily="34" charset="-122"/>
                <a:cs typeface="Arial" pitchFamily="34" charset="-120"/>
              </a:rPr>
              <a:t>18-34</a:t>
            </a:r>
            <a:endParaRPr lang="en-US" sz="3600" dirty="0"/>
          </a:p>
        </p:txBody>
      </p:sp>
      <p:sp>
        <p:nvSpPr>
          <p:cNvPr id="28" name="Text 26"/>
          <p:cNvSpPr/>
          <p:nvPr/>
        </p:nvSpPr>
        <p:spPr>
          <a:xfrm>
            <a:off x="12255401" y="5890915"/>
            <a:ext cx="1939975" cy="276225"/>
          </a:xfrm>
          <a:prstGeom prst="rect">
            <a:avLst/>
          </a:prstGeom>
          <a:noFill/>
          <a:ln/>
        </p:spPr>
        <p:txBody>
          <a:bodyPr wrap="square" lIns="25400" tIns="25400" rIns="25400" bIns="25400" rtlCol="0" anchor="t">
            <a:normAutofit/>
          </a:bodyPr>
          <a:lstStyle/>
          <a:p>
            <a:pPr algn="l" indent="0" marL="0">
              <a:buNone/>
            </a:pPr>
            <a:r>
              <a:rPr lang="en-US" sz="1650" dirty="0">
                <a:solidFill>
                  <a:srgbClr val="64748B"/>
                </a:solidFill>
                <a:latin typeface="Arial" pitchFamily="34" charset="0"/>
                <a:ea typeface="Arial" pitchFamily="34" charset="-122"/>
                <a:cs typeface="Arial" pitchFamily="34" charset="-120"/>
              </a:rPr>
              <a:t>Corner radius range</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1123950" y="876300"/>
            <a:ext cx="16521303"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0891B2"/>
                </a:solidFill>
                <a:latin typeface="Arial" pitchFamily="34" charset="0"/>
                <a:ea typeface="Arial" pitchFamily="34" charset="-122"/>
                <a:cs typeface="Arial" pitchFamily="34" charset="-120"/>
              </a:rPr>
              <a:t>EXPERIMENT 3 · IMAGE GENERATION INSERTION</a:t>
            </a:r>
            <a:endParaRPr lang="en-US" sz="1800" dirty="0"/>
          </a:p>
        </p:txBody>
      </p:sp>
      <p:sp>
        <p:nvSpPr>
          <p:cNvPr id="3" name="Text 1"/>
          <p:cNvSpPr/>
          <p:nvPr/>
        </p:nvSpPr>
        <p:spPr>
          <a:xfrm>
            <a:off x="1123950" y="2974330"/>
            <a:ext cx="9712643" cy="614065"/>
          </a:xfrm>
          <a:prstGeom prst="rect">
            <a:avLst/>
          </a:prstGeom>
          <a:noFill/>
          <a:ln/>
        </p:spPr>
        <p:txBody>
          <a:bodyPr wrap="square" lIns="25400" tIns="25400" rIns="25400" bIns="25400" rtlCol="0" anchor="t">
            <a:normAutofit/>
          </a:bodyPr>
          <a:lstStyle/>
          <a:p>
            <a:pPr algn="l" indent="0" marL="0">
              <a:lnSpc>
                <a:spcPct val="108000"/>
              </a:lnSpc>
              <a:buNone/>
            </a:pPr>
            <a:r>
              <a:rPr lang="en-US" sz="4200" b="1" dirty="0">
                <a:solidFill>
                  <a:srgbClr val="0F172A"/>
                </a:solidFill>
                <a:latin typeface="Arial" pitchFamily="34" charset="0"/>
                <a:ea typeface="Arial" pitchFamily="34" charset="-122"/>
                <a:cs typeface="Arial" pitchFamily="34" charset="-120"/>
              </a:rPr>
              <a:t>Image Placeholder Workflow</a:t>
            </a:r>
            <a:endParaRPr lang="en-US" sz="4200" dirty="0"/>
          </a:p>
        </p:txBody>
      </p:sp>
      <p:sp>
        <p:nvSpPr>
          <p:cNvPr id="4" name="Text 2"/>
          <p:cNvSpPr/>
          <p:nvPr/>
        </p:nvSpPr>
        <p:spPr>
          <a:xfrm>
            <a:off x="1123950" y="3836045"/>
            <a:ext cx="9712643" cy="1195388"/>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64748B"/>
                </a:solidFill>
                <a:latin typeface="Arial" pitchFamily="34" charset="0"/>
                <a:ea typeface="Arial" pitchFamily="34" charset="-122"/>
                <a:cs typeface="Arial" pitchFamily="34" charset="-120"/>
              </a:rPr>
              <a:t>The illustration below is generated by the local image generation tool for an AI image prompt. The exporter must fetch, rasterize, size, and place it without flattening all surrounding text into screenshots.</a:t>
            </a:r>
            <a:endParaRPr lang="en-US" sz="2250" dirty="0"/>
          </a:p>
        </p:txBody>
      </p:sp>
      <p:sp>
        <p:nvSpPr>
          <p:cNvPr id="5" name="Text 3"/>
          <p:cNvSpPr/>
          <p:nvPr/>
        </p:nvSpPr>
        <p:spPr>
          <a:xfrm>
            <a:off x="1304925" y="5279082"/>
            <a:ext cx="9324975" cy="1195388"/>
          </a:xfrm>
          <a:prstGeom prst="rect">
            <a:avLst/>
          </a:prstGeom>
          <a:noFill/>
          <a:ln/>
        </p:spPr>
        <p:txBody>
          <a:bodyPr wrap="square" lIns="25400" tIns="25400" rIns="25400" bIns="25400" rtlCol="0" anchor="t">
            <a:normAutofit/>
          </a:bodyPr>
          <a:lstStyle/>
          <a:p>
            <a:pPr algn="l" marL="200025" indent="-200025">
              <a:lnSpc>
                <a:spcPct val="135000"/>
              </a:lnSpc>
              <a:buSzPct val="100000"/>
              <a:buChar char="•"/>
              <a:tabLst>
                <a:tab pos="200025" algn="l"/>
              </a:tabLst>
            </a:pPr>
            <a:r>
              <a:rPr lang="en-US" sz="2250" dirty="0">
                <a:solidFill>
                  <a:srgbClr val="64748B"/>
                </a:solidFill>
                <a:latin typeface="Arial" pitchFamily="34" charset="0"/>
                <a:ea typeface="Arial" pitchFamily="34" charset="-122"/>
                <a:cs typeface="Arial" pitchFamily="34" charset="-120"/>
              </a:rPr>
              <a:t>Prompt: A futuristic server room icon.</a:t>
            </a:r>
            <a:endParaRPr lang="en-US" sz="2250" dirty="0"/>
          </a:p>
          <a:p>
            <a:pPr algn="l" marL="200025" indent="-200025">
              <a:lnSpc>
                <a:spcPct val="135000"/>
              </a:lnSpc>
              <a:buSzPct val="100000"/>
              <a:buChar char="•"/>
              <a:tabLst>
                <a:tab pos="200025" algn="l"/>
              </a:tabLst>
            </a:pPr>
            <a:r>
              <a:rPr lang="en-US" sz="2250" dirty="0">
                <a:solidFill>
                  <a:srgbClr val="64748B"/>
                </a:solidFill>
                <a:latin typeface="Arial" pitchFamily="34" charset="0"/>
                <a:ea typeface="Arial" pitchFamily="34" charset="-122"/>
                <a:cs typeface="Arial" pitchFamily="34" charset="-120"/>
              </a:rPr>
              <a:t>Expected fit: cover, centered crop.</a:t>
            </a:r>
            <a:endParaRPr lang="en-US" sz="2250" dirty="0"/>
          </a:p>
          <a:p>
            <a:pPr algn="l" marL="200025" indent="-200025">
              <a:lnSpc>
                <a:spcPct val="135000"/>
              </a:lnSpc>
              <a:buSzPct val="100000"/>
              <a:buChar char="•"/>
              <a:tabLst>
                <a:tab pos="200025" algn="l"/>
              </a:tabLst>
            </a:pPr>
            <a:r>
              <a:rPr lang="en-US" sz="2250" dirty="0">
                <a:solidFill>
                  <a:srgbClr val="64748B"/>
                </a:solidFill>
                <a:latin typeface="Arial" pitchFamily="34" charset="0"/>
                <a:ea typeface="Arial" pitchFamily="34" charset="-122"/>
                <a:cs typeface="Arial" pitchFamily="34" charset="-120"/>
              </a:rPr>
              <a:t>Expected PPTX result: generated picture plus editable labels.</a:t>
            </a:r>
            <a:endParaRPr lang="en-US" sz="2250" dirty="0"/>
          </a:p>
        </p:txBody>
      </p:sp>
      <p:sp>
        <p:nvSpPr>
          <p:cNvPr id="6" name="Shape 4"/>
          <p:cNvSpPr/>
          <p:nvPr/>
        </p:nvSpPr>
        <p:spPr>
          <a:xfrm>
            <a:off x="1123950" y="6836420"/>
            <a:ext cx="3151436" cy="495300"/>
          </a:xfrm>
          <a:prstGeom prst="roundRect">
            <a:avLst>
              <a:gd name="adj" fmla="val 50000"/>
            </a:avLst>
          </a:prstGeom>
          <a:solidFill>
            <a:srgbClr val="14B8A6"/>
          </a:solidFill>
          <a:ln/>
        </p:spPr>
      </p:sp>
      <p:sp>
        <p:nvSpPr>
          <p:cNvPr id="7" name="Text 5"/>
          <p:cNvSpPr/>
          <p:nvPr/>
        </p:nvSpPr>
        <p:spPr>
          <a:xfrm>
            <a:off x="1314450" y="6950720"/>
            <a:ext cx="2864979"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Generated image response</a:t>
            </a:r>
            <a:endParaRPr lang="en-US" sz="1800" dirty="0"/>
          </a:p>
        </p:txBody>
      </p:sp>
      <p:sp>
        <p:nvSpPr>
          <p:cNvPr id="8" name="Shape 6"/>
          <p:cNvSpPr/>
          <p:nvPr/>
        </p:nvSpPr>
        <p:spPr>
          <a:xfrm>
            <a:off x="11258550" y="2200275"/>
            <a:ext cx="5905500" cy="5905500"/>
          </a:xfrm>
          <a:prstGeom prst="roundRect">
            <a:avLst>
              <a:gd name="adj" fmla="val 5484"/>
            </a:avLst>
          </a:prstGeom>
          <a:solidFill>
            <a:srgbClr val="DBEAFE"/>
          </a:solidFill>
          <a:ln w="28575">
            <a:solidFill>
              <a:srgbClr val="FFFFFF"/>
            </a:solidFill>
            <a:prstDash val="solid"/>
          </a:ln>
          <a:effectLst>
            <a:outerShdw sx="100000" sy="100000" kx="0" ky="0" algn="bl" rotWithShape="0" blurRad="666750" dist="266700" dir="5400000">
              <a:srgbClr val="0F172A">
                <a:alpha val="20000"/>
              </a:srgbClr>
            </a:outerShdw>
          </a:effectLst>
        </p:spPr>
      </p:sp>
      <p:pic>
        <p:nvPicPr>
          <p:cNvPr id="9" name="Image 0" descr="preencoded.png">    </p:cNvPr>
          <p:cNvPicPr>
            <a:picLocks noChangeAspect="1"/>
          </p:cNvPicPr>
          <p:nvPr/>
        </p:nvPicPr>
        <p:blipFill>
          <a:blip r:embed="rId1"/>
          <a:srcRect l="21860" r="21860" t="0" b="0"/>
          <a:stretch/>
        </p:blipFill>
        <p:spPr>
          <a:xfrm>
            <a:off x="11287125" y="2228850"/>
            <a:ext cx="5848350" cy="58483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2026-06-19T19:52:32Z</dcterms:created>
  <dcterms:modified xsi:type="dcterms:W3CDTF">2026-06-19T19:52:32Z</dcterms:modified>
</cp:coreProperties>
</file>